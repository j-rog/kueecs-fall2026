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8E1DA4-9640-41B1-8629-262FDA6CFC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B7DF40-6BD0-4A61-B5CD-03559FC616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07ACC31-07A2-428C-A2E7-96EFC7E025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BCD0667-D8EA-4BC9-BD80-6F143AE8F0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C278A61-48DA-49B7-B662-40AE10A10F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108EE62-C538-4B5E-B4A2-32C8EFA96D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A6735CD-4502-4CFB-B813-5375A41898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773C074-0B62-4DB8-91C2-5B9E861575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1AF634B-04F8-40FE-9DE1-D525074983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349D6C7-1AF4-41B0-994E-3934F54056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33C6C7A-47CB-4AD6-BF14-4E4EC2B366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5A5928-C9BC-449A-9096-A4A3CA48E5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3442CE-E769-4812-8640-983695E617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70392E-A047-4219-8081-8DB0A4625D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398F70-F68C-4F5F-9395-891E02DDD8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7AA01C-E8C4-4416-9CF6-671CEB9288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8B9800-C887-453D-8E03-FB8E8C5D44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E02462-5A7C-4A53-8883-CE6F794BE3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F41BB6-01A8-4BDB-AB8F-D1903A31A6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3C8912-45B8-43CF-8E22-3B46EEB3DD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0C9FC0-8C80-44DC-A0C6-9D8FE94746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B27E5-121B-4677-9DDD-AD77C6A160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8457840" cy="175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Threads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6925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Single and Multithreaded Processes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2" name="Picture 4" descr=""/>
          <p:cNvPicPr/>
          <p:nvPr/>
        </p:nvPicPr>
        <p:blipFill>
          <a:blip r:embed="rId1"/>
          <a:stretch/>
        </p:blipFill>
        <p:spPr>
          <a:xfrm>
            <a:off x="1559160" y="1424160"/>
            <a:ext cx="15443640" cy="781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User vs Kernel Level Threads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13867920" cy="771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User-level threads – manage threads in user code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advantages – efficient and flexible in space, speed, switching, and scheduling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disadvantages – one thread blocked on I/O can block all threads, cannot take advantage of SMP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Kernel-level threads – kernel manages the threads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Advantages – removes disadvantages of user-level threads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Disadvantages – greater overhead due to kernel involvement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Examples – provided by almost all general-purpose OS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Windows, Solaris, Linux, Mac OS, etc.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720"/>
              </a:spcBef>
              <a:buNone/>
            </a:pP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Multithreading Models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6" name="Content Placeholder 3" descr=""/>
          <p:cNvPicPr/>
          <p:nvPr/>
        </p:nvPicPr>
        <p:blipFill>
          <a:blip r:embed="rId1"/>
          <a:srcRect l="20164" t="0" r="2761" b="0"/>
          <a:stretch/>
        </p:blipFill>
        <p:spPr>
          <a:xfrm>
            <a:off x="457200" y="1938960"/>
            <a:ext cx="8615880" cy="7292520"/>
          </a:xfrm>
          <a:prstGeom prst="rect">
            <a:avLst/>
          </a:prstGeom>
          <a:ln w="0">
            <a:noFill/>
          </a:ln>
        </p:spPr>
      </p:pic>
      <p:sp>
        <p:nvSpPr>
          <p:cNvPr id="77" name="TextBox 4"/>
          <p:cNvSpPr/>
          <p:nvPr/>
        </p:nvSpPr>
        <p:spPr>
          <a:xfrm>
            <a:off x="9437400" y="1822680"/>
            <a:ext cx="9004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Many to One Model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Content Placeholder 6" descr=""/>
          <p:cNvPicPr/>
          <p:nvPr/>
        </p:nvPicPr>
        <p:blipFill>
          <a:blip r:embed="rId1"/>
          <a:stretch/>
        </p:blipFill>
        <p:spPr>
          <a:xfrm>
            <a:off x="2009880" y="1823400"/>
            <a:ext cx="10267560" cy="831096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Multithreading Models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10518840" y="1822680"/>
            <a:ext cx="7923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Many to Many Model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Multithreading Models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2" name="Content Placeholder 6" descr=""/>
          <p:cNvPicPr/>
          <p:nvPr/>
        </p:nvPicPr>
        <p:blipFill>
          <a:blip r:embed="rId1"/>
          <a:stretch/>
        </p:blipFill>
        <p:spPr>
          <a:xfrm>
            <a:off x="890640" y="1600200"/>
            <a:ext cx="10977120" cy="6749640"/>
          </a:xfrm>
          <a:prstGeom prst="rect">
            <a:avLst/>
          </a:prstGeom>
          <a:ln w="0">
            <a:noFill/>
          </a:ln>
        </p:spPr>
      </p:pic>
      <p:sp>
        <p:nvSpPr>
          <p:cNvPr id="83" name="TextBox 4"/>
          <p:cNvSpPr/>
          <p:nvPr/>
        </p:nvSpPr>
        <p:spPr>
          <a:xfrm>
            <a:off x="11043720" y="1822680"/>
            <a:ext cx="739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One to One Model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Multithreading Models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5" name="Content Placeholder 7" descr=""/>
          <p:cNvPicPr/>
          <p:nvPr/>
        </p:nvPicPr>
        <p:blipFill>
          <a:blip r:embed="rId1"/>
          <a:stretch/>
        </p:blipFill>
        <p:spPr>
          <a:xfrm>
            <a:off x="1719360" y="1823400"/>
            <a:ext cx="10709640" cy="7770600"/>
          </a:xfrm>
          <a:prstGeom prst="rect">
            <a:avLst/>
          </a:prstGeom>
          <a:ln w="0">
            <a:noFill/>
          </a:ln>
        </p:spPr>
      </p:pic>
      <p:sp>
        <p:nvSpPr>
          <p:cNvPr id="86" name="TextBox 4"/>
          <p:cNvSpPr/>
          <p:nvPr/>
        </p:nvSpPr>
        <p:spPr>
          <a:xfrm>
            <a:off x="11043720" y="1822680"/>
            <a:ext cx="739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Two Level Multithreading Model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29200" y="3997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Code Examples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8457840" cy="175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Schedulers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91" name="Group 3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92" name="Freeform 4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TextBox 5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4" name="TextBox 6"/>
          <p:cNvSpPr/>
          <p:nvPr/>
        </p:nvSpPr>
        <p:spPr>
          <a:xfrm>
            <a:off x="8358840" y="197640"/>
            <a:ext cx="157032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SJF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30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97" name="Group 3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98" name="Freeform 4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TextBox 5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0" name="TextBox 6"/>
          <p:cNvSpPr/>
          <p:nvPr/>
        </p:nvSpPr>
        <p:spPr>
          <a:xfrm>
            <a:off x="8358840" y="197640"/>
            <a:ext cx="157032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SJF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1" name="Group 7"/>
          <p:cNvGrpSpPr/>
          <p:nvPr/>
        </p:nvGrpSpPr>
        <p:grpSpPr>
          <a:xfrm>
            <a:off x="6649200" y="7105680"/>
            <a:ext cx="2691720" cy="1767600"/>
            <a:chOff x="6649200" y="7105680"/>
            <a:chExt cx="2691720" cy="1767600"/>
          </a:xfrm>
        </p:grpSpPr>
        <p:sp>
          <p:nvSpPr>
            <p:cNvPr id="102" name="Freeform 8"/>
            <p:cNvSpPr/>
            <p:nvPr/>
          </p:nvSpPr>
          <p:spPr>
            <a:xfrm>
              <a:off x="6649200" y="7250400"/>
              <a:ext cx="2691720" cy="1622880"/>
            </a:xfrm>
            <a:custGeom>
              <a:avLst/>
              <a:gdLst>
                <a:gd name="textAreaLeft" fmla="*/ 0 w 2691720"/>
                <a:gd name="textAreaRight" fmla="*/ 2692080 w 269172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708982" h="427553">
                  <a:moveTo>
                    <a:pt x="0" y="0"/>
                  </a:moveTo>
                  <a:lnTo>
                    <a:pt x="708982" y="0"/>
                  </a:lnTo>
                  <a:lnTo>
                    <a:pt x="708982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bc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TextBox 9"/>
            <p:cNvSpPr/>
            <p:nvPr/>
          </p:nvSpPr>
          <p:spPr>
            <a:xfrm>
              <a:off x="6649200" y="7105680"/>
              <a:ext cx="269172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4" name="Group 10"/>
          <p:cNvGrpSpPr/>
          <p:nvPr/>
        </p:nvGrpSpPr>
        <p:grpSpPr>
          <a:xfrm>
            <a:off x="9301320" y="7105680"/>
            <a:ext cx="3501000" cy="1767600"/>
            <a:chOff x="9301320" y="7105680"/>
            <a:chExt cx="3501000" cy="1767600"/>
          </a:xfrm>
        </p:grpSpPr>
        <p:sp>
          <p:nvSpPr>
            <p:cNvPr id="105" name="Freeform 11"/>
            <p:cNvSpPr/>
            <p:nvPr/>
          </p:nvSpPr>
          <p:spPr>
            <a:xfrm>
              <a:off x="9301320" y="7250400"/>
              <a:ext cx="3501000" cy="1622880"/>
            </a:xfrm>
            <a:custGeom>
              <a:avLst/>
              <a:gdLst>
                <a:gd name="textAreaLeft" fmla="*/ 0 w 3501000"/>
                <a:gd name="textAreaRight" fmla="*/ 3501360 w 35010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922150" h="427553">
                  <a:moveTo>
                    <a:pt x="0" y="0"/>
                  </a:moveTo>
                  <a:lnTo>
                    <a:pt x="922150" y="0"/>
                  </a:lnTo>
                  <a:lnTo>
                    <a:pt x="92215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TextBox 12"/>
            <p:cNvSpPr/>
            <p:nvPr/>
          </p:nvSpPr>
          <p:spPr>
            <a:xfrm>
              <a:off x="9301320" y="7105680"/>
              <a:ext cx="35010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7" name="TextBox 13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4772880" y="8797320"/>
            <a:ext cx="3157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4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6604560" y="8826480"/>
            <a:ext cx="2570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0" name="Group 16"/>
          <p:cNvGrpSpPr/>
          <p:nvPr/>
        </p:nvGrpSpPr>
        <p:grpSpPr>
          <a:xfrm>
            <a:off x="2887920" y="7105680"/>
            <a:ext cx="2042280" cy="1767600"/>
            <a:chOff x="2887920" y="7105680"/>
            <a:chExt cx="2042280" cy="1767600"/>
          </a:xfrm>
        </p:grpSpPr>
        <p:sp>
          <p:nvSpPr>
            <p:cNvPr id="111" name="Freeform 17"/>
            <p:cNvSpPr/>
            <p:nvPr/>
          </p:nvSpPr>
          <p:spPr>
            <a:xfrm>
              <a:off x="2887920" y="7250400"/>
              <a:ext cx="2042280" cy="1622880"/>
            </a:xfrm>
            <a:custGeom>
              <a:avLst/>
              <a:gdLst>
                <a:gd name="textAreaLeft" fmla="*/ 0 w 2042280"/>
                <a:gd name="textAreaRight" fmla="*/ 2042640 w 204228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538025" h="427553">
                  <a:moveTo>
                    <a:pt x="0" y="0"/>
                  </a:moveTo>
                  <a:lnTo>
                    <a:pt x="538025" y="0"/>
                  </a:lnTo>
                  <a:lnTo>
                    <a:pt x="538025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c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TextBox 18"/>
            <p:cNvSpPr/>
            <p:nvPr/>
          </p:nvSpPr>
          <p:spPr>
            <a:xfrm>
              <a:off x="2887920" y="7105680"/>
              <a:ext cx="204228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3" name="TextBox 19"/>
          <p:cNvSpPr/>
          <p:nvPr/>
        </p:nvSpPr>
        <p:spPr>
          <a:xfrm>
            <a:off x="9142920" y="8826120"/>
            <a:ext cx="7920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4" name="Group 20"/>
          <p:cNvGrpSpPr/>
          <p:nvPr/>
        </p:nvGrpSpPr>
        <p:grpSpPr>
          <a:xfrm>
            <a:off x="12761640" y="7105680"/>
            <a:ext cx="2637720" cy="1767600"/>
            <a:chOff x="12761640" y="7105680"/>
            <a:chExt cx="2637720" cy="1767600"/>
          </a:xfrm>
        </p:grpSpPr>
        <p:sp>
          <p:nvSpPr>
            <p:cNvPr id="115" name="Freeform 21"/>
            <p:cNvSpPr/>
            <p:nvPr/>
          </p:nvSpPr>
          <p:spPr>
            <a:xfrm>
              <a:off x="12761640" y="7250400"/>
              <a:ext cx="2637720" cy="1622880"/>
            </a:xfrm>
            <a:custGeom>
              <a:avLst/>
              <a:gdLst>
                <a:gd name="textAreaLeft" fmla="*/ 0 w 2637720"/>
                <a:gd name="textAreaRight" fmla="*/ 2638080 w 263772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694830" h="427553">
                  <a:moveTo>
                    <a:pt x="0" y="0"/>
                  </a:moveTo>
                  <a:lnTo>
                    <a:pt x="694830" y="0"/>
                  </a:lnTo>
                  <a:lnTo>
                    <a:pt x="69483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da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TextBox 22"/>
            <p:cNvSpPr/>
            <p:nvPr/>
          </p:nvSpPr>
          <p:spPr>
            <a:xfrm>
              <a:off x="12761640" y="7105680"/>
              <a:ext cx="263772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7" name="TextBox 23"/>
          <p:cNvSpPr/>
          <p:nvPr/>
        </p:nvSpPr>
        <p:spPr>
          <a:xfrm>
            <a:off x="12486240" y="8797320"/>
            <a:ext cx="6015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4"/>
          <p:cNvSpPr/>
          <p:nvPr/>
        </p:nvSpPr>
        <p:spPr>
          <a:xfrm>
            <a:off x="15129720" y="8797320"/>
            <a:ext cx="6541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" name="Group 25"/>
          <p:cNvGrpSpPr/>
          <p:nvPr/>
        </p:nvGrpSpPr>
        <p:grpSpPr>
          <a:xfrm>
            <a:off x="4930920" y="7105680"/>
            <a:ext cx="1801800" cy="1767600"/>
            <a:chOff x="4930920" y="7105680"/>
            <a:chExt cx="1801800" cy="1767600"/>
          </a:xfrm>
        </p:grpSpPr>
        <p:sp>
          <p:nvSpPr>
            <p:cNvPr id="120" name="Freeform 26"/>
            <p:cNvSpPr/>
            <p:nvPr/>
          </p:nvSpPr>
          <p:spPr>
            <a:xfrm>
              <a:off x="4930920" y="7250400"/>
              <a:ext cx="1801800" cy="1622880"/>
            </a:xfrm>
            <a:custGeom>
              <a:avLst/>
              <a:gdLst>
                <a:gd name="textAreaLeft" fmla="*/ 0 w 1801800"/>
                <a:gd name="textAreaRight" fmla="*/ 1802160 w 18018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493343" h="427553">
                  <a:moveTo>
                    <a:pt x="0" y="0"/>
                  </a:moveTo>
                  <a:lnTo>
                    <a:pt x="493343" y="0"/>
                  </a:lnTo>
                  <a:lnTo>
                    <a:pt x="493343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c5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TextBox 27"/>
            <p:cNvSpPr/>
            <p:nvPr/>
          </p:nvSpPr>
          <p:spPr>
            <a:xfrm>
              <a:off x="4930920" y="7105680"/>
              <a:ext cx="18018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2" name="AutoShape 28"/>
          <p:cNvSpPr/>
          <p:nvPr/>
        </p:nvSpPr>
        <p:spPr>
          <a:xfrm>
            <a:off x="3890160" y="6851160"/>
            <a:ext cx="360" cy="2352960"/>
          </a:xfrm>
          <a:prstGeom prst="line">
            <a:avLst/>
          </a:prstGeom>
          <a:ln w="38100">
            <a:solidFill>
              <a:srgbClr val="008edd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AutoShape 29"/>
          <p:cNvSpPr/>
          <p:nvPr/>
        </p:nvSpPr>
        <p:spPr>
          <a:xfrm>
            <a:off x="4340880" y="6851160"/>
            <a:ext cx="360" cy="2352960"/>
          </a:xfrm>
          <a:prstGeom prst="line">
            <a:avLst/>
          </a:prstGeom>
          <a:ln w="38100">
            <a:solidFill>
              <a:srgbClr val="2ab8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AutoShape 30"/>
          <p:cNvSpPr/>
          <p:nvPr/>
        </p:nvSpPr>
        <p:spPr>
          <a:xfrm>
            <a:off x="9613440" y="6851160"/>
            <a:ext cx="360" cy="2352960"/>
          </a:xfrm>
          <a:prstGeom prst="line">
            <a:avLst/>
          </a:prstGeom>
          <a:ln w="38100">
            <a:solidFill>
              <a:srgbClr val="b87f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6"/>
          <p:cNvSpPr/>
          <p:nvPr/>
        </p:nvSpPr>
        <p:spPr>
          <a:xfrm>
            <a:off x="8358840" y="197640"/>
            <a:ext cx="157032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SJF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1" descr=""/>
          <p:cNvPicPr/>
          <p:nvPr/>
        </p:nvPicPr>
        <p:blipFill>
          <a:blip r:embed="rId1"/>
          <a:stretch/>
        </p:blipFill>
        <p:spPr>
          <a:xfrm>
            <a:off x="247320" y="1645200"/>
            <a:ext cx="10038960" cy="4957560"/>
          </a:xfrm>
          <a:prstGeom prst="rect">
            <a:avLst/>
          </a:prstGeom>
          <a:ln w="0">
            <a:noFill/>
          </a:ln>
        </p:spPr>
      </p:pic>
      <p:sp>
        <p:nvSpPr>
          <p:cNvPr id="127" name="TextBox 31"/>
          <p:cNvSpPr/>
          <p:nvPr/>
        </p:nvSpPr>
        <p:spPr>
          <a:xfrm>
            <a:off x="10425960" y="1791720"/>
            <a:ext cx="786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Completion Time – Arrival Time – Burst Time = Waiting Time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32"/>
          <p:cNvSpPr/>
          <p:nvPr/>
        </p:nvSpPr>
        <p:spPr>
          <a:xfrm>
            <a:off x="10533960" y="237852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13 – 0 – 6 = 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33"/>
          <p:cNvSpPr/>
          <p:nvPr/>
        </p:nvSpPr>
        <p:spPr>
          <a:xfrm>
            <a:off x="10533960" y="421668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4 – 0 – 4 = 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4"/>
          <p:cNvSpPr/>
          <p:nvPr/>
        </p:nvSpPr>
        <p:spPr>
          <a:xfrm>
            <a:off x="10533960" y="335160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27 – 14 – 6 = 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35"/>
          <p:cNvSpPr/>
          <p:nvPr/>
        </p:nvSpPr>
        <p:spPr>
          <a:xfrm>
            <a:off x="10533960" y="508176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7 – 3 – 3 = 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36"/>
          <p:cNvSpPr/>
          <p:nvPr/>
        </p:nvSpPr>
        <p:spPr>
          <a:xfrm>
            <a:off x="10533960" y="597744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21 – 2 – 8 = 11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2919240" y="7398720"/>
            <a:ext cx="11507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The sum of all wait times / number of processes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2919240" y="8340840"/>
            <a:ext cx="7151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(7 + 7 + 0 + 1 + 11)/5 =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9406440" y="8340840"/>
            <a:ext cx="17758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5.2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8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137" name="Group 3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138" name="Freeform 4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TextBox 5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0" name="TextBox 6"/>
          <p:cNvSpPr/>
          <p:nvPr/>
        </p:nvSpPr>
        <p:spPr>
          <a:xfrm>
            <a:off x="8068680" y="197640"/>
            <a:ext cx="215028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PSJF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34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143" name="Group 3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144" name="Freeform 4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" name="TextBox 5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6" name="TextBox 6"/>
          <p:cNvSpPr/>
          <p:nvPr/>
        </p:nvSpPr>
        <p:spPr>
          <a:xfrm>
            <a:off x="8068680" y="197640"/>
            <a:ext cx="215028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PSJF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7" name="Group 7"/>
          <p:cNvGrpSpPr/>
          <p:nvPr/>
        </p:nvGrpSpPr>
        <p:grpSpPr>
          <a:xfrm>
            <a:off x="6649200" y="7105680"/>
            <a:ext cx="2691720" cy="1767600"/>
            <a:chOff x="6649200" y="7105680"/>
            <a:chExt cx="2691720" cy="1767600"/>
          </a:xfrm>
        </p:grpSpPr>
        <p:sp>
          <p:nvSpPr>
            <p:cNvPr id="148" name="Freeform 8"/>
            <p:cNvSpPr/>
            <p:nvPr/>
          </p:nvSpPr>
          <p:spPr>
            <a:xfrm>
              <a:off x="6649200" y="7250400"/>
              <a:ext cx="2691720" cy="1622880"/>
            </a:xfrm>
            <a:custGeom>
              <a:avLst/>
              <a:gdLst>
                <a:gd name="textAreaLeft" fmla="*/ 0 w 2691720"/>
                <a:gd name="textAreaRight" fmla="*/ 2692080 w 269172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708982" h="427553">
                  <a:moveTo>
                    <a:pt x="0" y="0"/>
                  </a:moveTo>
                  <a:lnTo>
                    <a:pt x="708982" y="0"/>
                  </a:lnTo>
                  <a:lnTo>
                    <a:pt x="708982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bc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" name="TextBox 9"/>
            <p:cNvSpPr/>
            <p:nvPr/>
          </p:nvSpPr>
          <p:spPr>
            <a:xfrm>
              <a:off x="6649200" y="7105680"/>
              <a:ext cx="269172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0" name="Group 10"/>
          <p:cNvGrpSpPr/>
          <p:nvPr/>
        </p:nvGrpSpPr>
        <p:grpSpPr>
          <a:xfrm>
            <a:off x="9301320" y="7105680"/>
            <a:ext cx="2931120" cy="1767600"/>
            <a:chOff x="9301320" y="7105680"/>
            <a:chExt cx="2931120" cy="1767600"/>
          </a:xfrm>
        </p:grpSpPr>
        <p:sp>
          <p:nvSpPr>
            <p:cNvPr id="151" name="Freeform 11"/>
            <p:cNvSpPr/>
            <p:nvPr/>
          </p:nvSpPr>
          <p:spPr>
            <a:xfrm>
              <a:off x="9301320" y="7250400"/>
              <a:ext cx="2931120" cy="1622880"/>
            </a:xfrm>
            <a:custGeom>
              <a:avLst/>
              <a:gdLst>
                <a:gd name="textAreaLeft" fmla="*/ 0 w 2931120"/>
                <a:gd name="textAreaRight" fmla="*/ 2931480 w 293112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117387" h="427553">
                  <a:moveTo>
                    <a:pt x="0" y="0"/>
                  </a:moveTo>
                  <a:lnTo>
                    <a:pt x="117387" y="0"/>
                  </a:lnTo>
                  <a:lnTo>
                    <a:pt x="117387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TextBox 12"/>
            <p:cNvSpPr/>
            <p:nvPr/>
          </p:nvSpPr>
          <p:spPr>
            <a:xfrm>
              <a:off x="9301320" y="7105680"/>
              <a:ext cx="293112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3" name="TextBox 13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4772880" y="8797320"/>
            <a:ext cx="3157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4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6604560" y="8826480"/>
            <a:ext cx="2570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6" name="Group 16"/>
          <p:cNvGrpSpPr/>
          <p:nvPr/>
        </p:nvGrpSpPr>
        <p:grpSpPr>
          <a:xfrm>
            <a:off x="2887920" y="7105680"/>
            <a:ext cx="2042280" cy="1767600"/>
            <a:chOff x="2887920" y="7105680"/>
            <a:chExt cx="2042280" cy="1767600"/>
          </a:xfrm>
        </p:grpSpPr>
        <p:sp>
          <p:nvSpPr>
            <p:cNvPr id="157" name="Freeform 17"/>
            <p:cNvSpPr/>
            <p:nvPr/>
          </p:nvSpPr>
          <p:spPr>
            <a:xfrm>
              <a:off x="2887920" y="7250400"/>
              <a:ext cx="2042280" cy="1622880"/>
            </a:xfrm>
            <a:custGeom>
              <a:avLst/>
              <a:gdLst>
                <a:gd name="textAreaLeft" fmla="*/ 0 w 2042280"/>
                <a:gd name="textAreaRight" fmla="*/ 2042640 w 204228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538025" h="427553">
                  <a:moveTo>
                    <a:pt x="0" y="0"/>
                  </a:moveTo>
                  <a:lnTo>
                    <a:pt x="538025" y="0"/>
                  </a:lnTo>
                  <a:lnTo>
                    <a:pt x="538025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c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" name="TextBox 18"/>
            <p:cNvSpPr/>
            <p:nvPr/>
          </p:nvSpPr>
          <p:spPr>
            <a:xfrm>
              <a:off x="2887920" y="7105680"/>
              <a:ext cx="204228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9" name="TextBox 19"/>
          <p:cNvSpPr/>
          <p:nvPr/>
        </p:nvSpPr>
        <p:spPr>
          <a:xfrm>
            <a:off x="8773200" y="8797320"/>
            <a:ext cx="57492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0" name="Group 20"/>
          <p:cNvGrpSpPr/>
          <p:nvPr/>
        </p:nvGrpSpPr>
        <p:grpSpPr>
          <a:xfrm>
            <a:off x="12196800" y="7105680"/>
            <a:ext cx="3202920" cy="1767600"/>
            <a:chOff x="12196800" y="7105680"/>
            <a:chExt cx="3202920" cy="1767600"/>
          </a:xfrm>
        </p:grpSpPr>
        <p:sp>
          <p:nvSpPr>
            <p:cNvPr id="161" name="Freeform 21"/>
            <p:cNvSpPr/>
            <p:nvPr/>
          </p:nvSpPr>
          <p:spPr>
            <a:xfrm>
              <a:off x="12196800" y="7250400"/>
              <a:ext cx="3202920" cy="1622880"/>
            </a:xfrm>
            <a:custGeom>
              <a:avLst/>
              <a:gdLst>
                <a:gd name="textAreaLeft" fmla="*/ 0 w 3202920"/>
                <a:gd name="textAreaRight" fmla="*/ 3203280 w 320292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843632" h="427553">
                  <a:moveTo>
                    <a:pt x="0" y="0"/>
                  </a:moveTo>
                  <a:lnTo>
                    <a:pt x="843632" y="0"/>
                  </a:lnTo>
                  <a:lnTo>
                    <a:pt x="843632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TextBox 22"/>
            <p:cNvSpPr/>
            <p:nvPr/>
          </p:nvSpPr>
          <p:spPr>
            <a:xfrm>
              <a:off x="12196800" y="7105680"/>
              <a:ext cx="320292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3" name="TextBox 23"/>
          <p:cNvSpPr/>
          <p:nvPr/>
        </p:nvSpPr>
        <p:spPr>
          <a:xfrm>
            <a:off x="11963520" y="8797320"/>
            <a:ext cx="7164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24"/>
          <p:cNvSpPr/>
          <p:nvPr/>
        </p:nvSpPr>
        <p:spPr>
          <a:xfrm>
            <a:off x="15129720" y="8797320"/>
            <a:ext cx="54000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5" name="Group 25"/>
          <p:cNvGrpSpPr/>
          <p:nvPr/>
        </p:nvGrpSpPr>
        <p:grpSpPr>
          <a:xfrm>
            <a:off x="4930920" y="7105680"/>
            <a:ext cx="1801800" cy="1767600"/>
            <a:chOff x="4930920" y="7105680"/>
            <a:chExt cx="1801800" cy="1767600"/>
          </a:xfrm>
        </p:grpSpPr>
        <p:sp>
          <p:nvSpPr>
            <p:cNvPr id="166" name="Freeform 26"/>
            <p:cNvSpPr/>
            <p:nvPr/>
          </p:nvSpPr>
          <p:spPr>
            <a:xfrm>
              <a:off x="4930920" y="7250400"/>
              <a:ext cx="1801800" cy="1622880"/>
            </a:xfrm>
            <a:custGeom>
              <a:avLst/>
              <a:gdLst>
                <a:gd name="textAreaLeft" fmla="*/ 0 w 1801800"/>
                <a:gd name="textAreaRight" fmla="*/ 1802160 w 18018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493343" h="427553">
                  <a:moveTo>
                    <a:pt x="0" y="0"/>
                  </a:moveTo>
                  <a:lnTo>
                    <a:pt x="493343" y="0"/>
                  </a:lnTo>
                  <a:lnTo>
                    <a:pt x="493343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c5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TextBox 27"/>
            <p:cNvSpPr/>
            <p:nvPr/>
          </p:nvSpPr>
          <p:spPr>
            <a:xfrm>
              <a:off x="4930920" y="7105680"/>
              <a:ext cx="18018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8" name="AutoShape 28"/>
          <p:cNvSpPr/>
          <p:nvPr/>
        </p:nvSpPr>
        <p:spPr>
          <a:xfrm>
            <a:off x="3890160" y="6851160"/>
            <a:ext cx="360" cy="2352960"/>
          </a:xfrm>
          <a:prstGeom prst="line">
            <a:avLst/>
          </a:prstGeom>
          <a:ln w="38100">
            <a:solidFill>
              <a:srgbClr val="008edd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AutoShape 29"/>
          <p:cNvSpPr/>
          <p:nvPr/>
        </p:nvSpPr>
        <p:spPr>
          <a:xfrm>
            <a:off x="4340880" y="6851160"/>
            <a:ext cx="360" cy="2352960"/>
          </a:xfrm>
          <a:prstGeom prst="line">
            <a:avLst/>
          </a:prstGeom>
          <a:ln w="38100">
            <a:solidFill>
              <a:srgbClr val="2ab8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0" name="Group 30"/>
          <p:cNvGrpSpPr/>
          <p:nvPr/>
        </p:nvGrpSpPr>
        <p:grpSpPr>
          <a:xfrm>
            <a:off x="9747000" y="7105680"/>
            <a:ext cx="2485440" cy="1767600"/>
            <a:chOff x="9747000" y="7105680"/>
            <a:chExt cx="2485440" cy="1767600"/>
          </a:xfrm>
        </p:grpSpPr>
        <p:sp>
          <p:nvSpPr>
            <p:cNvPr id="171" name="Freeform 31"/>
            <p:cNvSpPr/>
            <p:nvPr/>
          </p:nvSpPr>
          <p:spPr>
            <a:xfrm>
              <a:off x="9747000" y="7250400"/>
              <a:ext cx="2485440" cy="1622880"/>
            </a:xfrm>
            <a:custGeom>
              <a:avLst/>
              <a:gdLst>
                <a:gd name="textAreaLeft" fmla="*/ 0 w 2485440"/>
                <a:gd name="textAreaRight" fmla="*/ 2485800 w 2485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654672" h="427553">
                  <a:moveTo>
                    <a:pt x="0" y="0"/>
                  </a:moveTo>
                  <a:lnTo>
                    <a:pt x="654672" y="0"/>
                  </a:lnTo>
                  <a:lnTo>
                    <a:pt x="654672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da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TextBox 32"/>
            <p:cNvSpPr/>
            <p:nvPr/>
          </p:nvSpPr>
          <p:spPr>
            <a:xfrm>
              <a:off x="9747000" y="7105680"/>
              <a:ext cx="2485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3" name="TextBox 33"/>
          <p:cNvSpPr/>
          <p:nvPr/>
        </p:nvSpPr>
        <p:spPr>
          <a:xfrm>
            <a:off x="9455400" y="8797320"/>
            <a:ext cx="6163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14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AutoShape 34"/>
          <p:cNvSpPr/>
          <p:nvPr/>
        </p:nvSpPr>
        <p:spPr>
          <a:xfrm>
            <a:off x="9747000" y="6851160"/>
            <a:ext cx="360" cy="2352960"/>
          </a:xfrm>
          <a:prstGeom prst="line">
            <a:avLst/>
          </a:prstGeom>
          <a:ln w="38100">
            <a:solidFill>
              <a:srgbClr val="b87f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" dur="indefinite" restart="never" nodeType="tmRoot">
          <p:childTnLst>
            <p:seq>
              <p:cTn id="105" dur="indefinite" nodeType="mainSeq">
                <p:childTnLst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6"/>
          <p:cNvSpPr/>
          <p:nvPr/>
        </p:nvSpPr>
        <p:spPr>
          <a:xfrm>
            <a:off x="8068680" y="197640"/>
            <a:ext cx="215028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PSJF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Picture 1" descr=""/>
          <p:cNvPicPr/>
          <p:nvPr/>
        </p:nvPicPr>
        <p:blipFill>
          <a:blip r:embed="rId1"/>
          <a:stretch/>
        </p:blipFill>
        <p:spPr>
          <a:xfrm>
            <a:off x="303480" y="1689120"/>
            <a:ext cx="9726120" cy="4931640"/>
          </a:xfrm>
          <a:prstGeom prst="rect">
            <a:avLst/>
          </a:prstGeom>
          <a:ln w="0">
            <a:noFill/>
          </a:ln>
        </p:spPr>
      </p:pic>
      <p:sp>
        <p:nvSpPr>
          <p:cNvPr id="177" name="TextBox 36"/>
          <p:cNvSpPr/>
          <p:nvPr/>
        </p:nvSpPr>
        <p:spPr>
          <a:xfrm>
            <a:off x="10287000" y="1899720"/>
            <a:ext cx="786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Completion Time – Arrival Time – Burst Time = Waiting Time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38"/>
          <p:cNvSpPr/>
          <p:nvPr/>
        </p:nvSpPr>
        <p:spPr>
          <a:xfrm>
            <a:off x="10395000" y="248688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13 – 0 – 6 = 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40"/>
          <p:cNvSpPr/>
          <p:nvPr/>
        </p:nvSpPr>
        <p:spPr>
          <a:xfrm>
            <a:off x="10395000" y="432504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4 – 0 – 4 = 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42"/>
          <p:cNvSpPr/>
          <p:nvPr/>
        </p:nvSpPr>
        <p:spPr>
          <a:xfrm>
            <a:off x="10395000" y="345996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20 – 14 – 6 = 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44"/>
          <p:cNvSpPr/>
          <p:nvPr/>
        </p:nvSpPr>
        <p:spPr>
          <a:xfrm>
            <a:off x="10395000" y="518976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7 – 3 – 3 = 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46"/>
          <p:cNvSpPr/>
          <p:nvPr/>
        </p:nvSpPr>
        <p:spPr>
          <a:xfrm>
            <a:off x="10395000" y="608580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27 – 2 – 8 = 17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48"/>
          <p:cNvSpPr/>
          <p:nvPr/>
        </p:nvSpPr>
        <p:spPr>
          <a:xfrm>
            <a:off x="2780280" y="7506720"/>
            <a:ext cx="11507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The sum of all wait times / number of processes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50"/>
          <p:cNvSpPr/>
          <p:nvPr/>
        </p:nvSpPr>
        <p:spPr>
          <a:xfrm>
            <a:off x="2919240" y="8340840"/>
            <a:ext cx="7151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(7 + 0 + 0 + 1 + 17)/5 =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52"/>
          <p:cNvSpPr/>
          <p:nvPr/>
        </p:nvSpPr>
        <p:spPr>
          <a:xfrm>
            <a:off x="9406440" y="8340840"/>
            <a:ext cx="17758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5.0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4" dur="indefinite" restart="never" nodeType="tmRoot">
          <p:childTnLst>
            <p:seq>
              <p:cTn id="155" dur="indefinite" nodeType="mainSeq">
                <p:childTnLst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icture 8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187" name="Group 3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188" name="Freeform 4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" name="TextBox 5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0" name="TextBox 6"/>
          <p:cNvSpPr/>
          <p:nvPr/>
        </p:nvSpPr>
        <p:spPr>
          <a:xfrm>
            <a:off x="8411760" y="197640"/>
            <a:ext cx="166464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PRI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30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193" name="Group 3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194" name="Freeform 4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TextBox 5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6" name="TextBox 6"/>
          <p:cNvSpPr/>
          <p:nvPr/>
        </p:nvSpPr>
        <p:spPr>
          <a:xfrm>
            <a:off x="8350200" y="197640"/>
            <a:ext cx="181908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PRI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8" name="Group 8"/>
          <p:cNvGrpSpPr/>
          <p:nvPr/>
        </p:nvGrpSpPr>
        <p:grpSpPr>
          <a:xfrm>
            <a:off x="7331760" y="7105680"/>
            <a:ext cx="2042280" cy="1767600"/>
            <a:chOff x="7331760" y="7105680"/>
            <a:chExt cx="2042280" cy="1767600"/>
          </a:xfrm>
        </p:grpSpPr>
        <p:sp>
          <p:nvSpPr>
            <p:cNvPr id="199" name="Freeform 9"/>
            <p:cNvSpPr/>
            <p:nvPr/>
          </p:nvSpPr>
          <p:spPr>
            <a:xfrm>
              <a:off x="7331760" y="7250400"/>
              <a:ext cx="2042280" cy="1622880"/>
            </a:xfrm>
            <a:custGeom>
              <a:avLst/>
              <a:gdLst>
                <a:gd name="textAreaLeft" fmla="*/ 0 w 2042280"/>
                <a:gd name="textAreaRight" fmla="*/ 2042640 w 204228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538025" h="427553">
                  <a:moveTo>
                    <a:pt x="0" y="0"/>
                  </a:moveTo>
                  <a:lnTo>
                    <a:pt x="538025" y="0"/>
                  </a:lnTo>
                  <a:lnTo>
                    <a:pt x="538025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c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" name="TextBox 10"/>
            <p:cNvSpPr/>
            <p:nvPr/>
          </p:nvSpPr>
          <p:spPr>
            <a:xfrm>
              <a:off x="7331760" y="7105680"/>
              <a:ext cx="204228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01" name="Group 11"/>
          <p:cNvGrpSpPr/>
          <p:nvPr/>
        </p:nvGrpSpPr>
        <p:grpSpPr>
          <a:xfrm>
            <a:off x="2887920" y="7105680"/>
            <a:ext cx="2691720" cy="1767600"/>
            <a:chOff x="2887920" y="7105680"/>
            <a:chExt cx="2691720" cy="1767600"/>
          </a:xfrm>
        </p:grpSpPr>
        <p:sp>
          <p:nvSpPr>
            <p:cNvPr id="202" name="Freeform 12"/>
            <p:cNvSpPr/>
            <p:nvPr/>
          </p:nvSpPr>
          <p:spPr>
            <a:xfrm>
              <a:off x="2887920" y="7250400"/>
              <a:ext cx="2691720" cy="1622880"/>
            </a:xfrm>
            <a:custGeom>
              <a:avLst/>
              <a:gdLst>
                <a:gd name="textAreaLeft" fmla="*/ 0 w 2691720"/>
                <a:gd name="textAreaRight" fmla="*/ 2692080 w 269172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708982" h="427553">
                  <a:moveTo>
                    <a:pt x="0" y="0"/>
                  </a:moveTo>
                  <a:lnTo>
                    <a:pt x="708982" y="0"/>
                  </a:lnTo>
                  <a:lnTo>
                    <a:pt x="708982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bc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TextBox 13"/>
            <p:cNvSpPr/>
            <p:nvPr/>
          </p:nvSpPr>
          <p:spPr>
            <a:xfrm>
              <a:off x="2887920" y="7105680"/>
              <a:ext cx="269172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04" name="Group 14"/>
          <p:cNvGrpSpPr/>
          <p:nvPr/>
        </p:nvGrpSpPr>
        <p:grpSpPr>
          <a:xfrm>
            <a:off x="5515200" y="7105680"/>
            <a:ext cx="1872720" cy="1767600"/>
            <a:chOff x="5515200" y="7105680"/>
            <a:chExt cx="1872720" cy="1767600"/>
          </a:xfrm>
        </p:grpSpPr>
        <p:sp>
          <p:nvSpPr>
            <p:cNvPr id="205" name="Freeform 15"/>
            <p:cNvSpPr/>
            <p:nvPr/>
          </p:nvSpPr>
          <p:spPr>
            <a:xfrm>
              <a:off x="5515200" y="7250400"/>
              <a:ext cx="1872720" cy="1622880"/>
            </a:xfrm>
            <a:custGeom>
              <a:avLst/>
              <a:gdLst>
                <a:gd name="textAreaLeft" fmla="*/ 0 w 1872720"/>
                <a:gd name="textAreaRight" fmla="*/ 1873080 w 187272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493343" h="427553">
                  <a:moveTo>
                    <a:pt x="0" y="0"/>
                  </a:moveTo>
                  <a:lnTo>
                    <a:pt x="493343" y="0"/>
                  </a:lnTo>
                  <a:lnTo>
                    <a:pt x="493343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c5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TextBox 16"/>
            <p:cNvSpPr/>
            <p:nvPr/>
          </p:nvSpPr>
          <p:spPr>
            <a:xfrm>
              <a:off x="5515200" y="7105680"/>
              <a:ext cx="187272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07" name="Group 17"/>
          <p:cNvGrpSpPr/>
          <p:nvPr/>
        </p:nvGrpSpPr>
        <p:grpSpPr>
          <a:xfrm>
            <a:off x="9301320" y="7105680"/>
            <a:ext cx="3501000" cy="1767600"/>
            <a:chOff x="9301320" y="7105680"/>
            <a:chExt cx="3501000" cy="1767600"/>
          </a:xfrm>
        </p:grpSpPr>
        <p:sp>
          <p:nvSpPr>
            <p:cNvPr id="208" name="Freeform 18"/>
            <p:cNvSpPr/>
            <p:nvPr/>
          </p:nvSpPr>
          <p:spPr>
            <a:xfrm>
              <a:off x="9301320" y="7250400"/>
              <a:ext cx="3501000" cy="1622880"/>
            </a:xfrm>
            <a:custGeom>
              <a:avLst/>
              <a:gdLst>
                <a:gd name="textAreaLeft" fmla="*/ 0 w 3501000"/>
                <a:gd name="textAreaRight" fmla="*/ 3501360 w 35010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922150" h="427553">
                  <a:moveTo>
                    <a:pt x="0" y="0"/>
                  </a:moveTo>
                  <a:lnTo>
                    <a:pt x="922150" y="0"/>
                  </a:lnTo>
                  <a:lnTo>
                    <a:pt x="92215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TextBox 19"/>
            <p:cNvSpPr/>
            <p:nvPr/>
          </p:nvSpPr>
          <p:spPr>
            <a:xfrm>
              <a:off x="9301320" y="7105680"/>
              <a:ext cx="35010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10" name="Group 20"/>
          <p:cNvGrpSpPr/>
          <p:nvPr/>
        </p:nvGrpSpPr>
        <p:grpSpPr>
          <a:xfrm>
            <a:off x="12761640" y="7105680"/>
            <a:ext cx="2637720" cy="1767600"/>
            <a:chOff x="12761640" y="7105680"/>
            <a:chExt cx="2637720" cy="1767600"/>
          </a:xfrm>
        </p:grpSpPr>
        <p:sp>
          <p:nvSpPr>
            <p:cNvPr id="211" name="Freeform 21"/>
            <p:cNvSpPr/>
            <p:nvPr/>
          </p:nvSpPr>
          <p:spPr>
            <a:xfrm>
              <a:off x="12761640" y="7250400"/>
              <a:ext cx="2637720" cy="1622880"/>
            </a:xfrm>
            <a:custGeom>
              <a:avLst/>
              <a:gdLst>
                <a:gd name="textAreaLeft" fmla="*/ 0 w 2637720"/>
                <a:gd name="textAreaRight" fmla="*/ 2638080 w 263772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694830" h="427553">
                  <a:moveTo>
                    <a:pt x="0" y="0"/>
                  </a:moveTo>
                  <a:lnTo>
                    <a:pt x="694830" y="0"/>
                  </a:lnTo>
                  <a:lnTo>
                    <a:pt x="69483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da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TextBox 22"/>
            <p:cNvSpPr/>
            <p:nvPr/>
          </p:nvSpPr>
          <p:spPr>
            <a:xfrm>
              <a:off x="12761640" y="7105680"/>
              <a:ext cx="263772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13" name="TextBox 23"/>
          <p:cNvSpPr/>
          <p:nvPr/>
        </p:nvSpPr>
        <p:spPr>
          <a:xfrm>
            <a:off x="5350320" y="8797320"/>
            <a:ext cx="3290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24"/>
          <p:cNvSpPr/>
          <p:nvPr/>
        </p:nvSpPr>
        <p:spPr>
          <a:xfrm>
            <a:off x="7167960" y="8797320"/>
            <a:ext cx="3276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9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25"/>
          <p:cNvSpPr/>
          <p:nvPr/>
        </p:nvSpPr>
        <p:spPr>
          <a:xfrm>
            <a:off x="9024120" y="8797320"/>
            <a:ext cx="597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26"/>
          <p:cNvSpPr/>
          <p:nvPr/>
        </p:nvSpPr>
        <p:spPr>
          <a:xfrm>
            <a:off x="12486240" y="8797320"/>
            <a:ext cx="5932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27"/>
          <p:cNvSpPr/>
          <p:nvPr/>
        </p:nvSpPr>
        <p:spPr>
          <a:xfrm>
            <a:off x="15129720" y="8797320"/>
            <a:ext cx="54000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AutoShape 28"/>
          <p:cNvSpPr/>
          <p:nvPr/>
        </p:nvSpPr>
        <p:spPr>
          <a:xfrm>
            <a:off x="3890160" y="6851160"/>
            <a:ext cx="360" cy="2352960"/>
          </a:xfrm>
          <a:prstGeom prst="line">
            <a:avLst/>
          </a:prstGeom>
          <a:ln w="38100">
            <a:solidFill>
              <a:srgbClr val="008edd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AutoShape 29"/>
          <p:cNvSpPr/>
          <p:nvPr/>
        </p:nvSpPr>
        <p:spPr>
          <a:xfrm>
            <a:off x="4340880" y="6851160"/>
            <a:ext cx="360" cy="2352960"/>
          </a:xfrm>
          <a:prstGeom prst="line">
            <a:avLst/>
          </a:prstGeom>
          <a:ln w="38100">
            <a:solidFill>
              <a:srgbClr val="2ab8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AutoShape 30"/>
          <p:cNvSpPr/>
          <p:nvPr/>
        </p:nvSpPr>
        <p:spPr>
          <a:xfrm>
            <a:off x="9613440" y="6851160"/>
            <a:ext cx="360" cy="2352960"/>
          </a:xfrm>
          <a:prstGeom prst="line">
            <a:avLst/>
          </a:prstGeom>
          <a:ln w="38100">
            <a:solidFill>
              <a:srgbClr val="b87f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9" dur="indefinite" restart="never" nodeType="tmRoot">
          <p:childTnLst>
            <p:seq>
              <p:cTn id="190" dur="indefinite" nodeType="mainSeq">
                <p:childTnLst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Box 6"/>
          <p:cNvSpPr/>
          <p:nvPr/>
        </p:nvSpPr>
        <p:spPr>
          <a:xfrm>
            <a:off x="8350200" y="197640"/>
            <a:ext cx="181908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PRI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Picture 1" descr=""/>
          <p:cNvPicPr/>
          <p:nvPr/>
        </p:nvPicPr>
        <p:blipFill>
          <a:blip r:embed="rId1"/>
          <a:stretch/>
        </p:blipFill>
        <p:spPr>
          <a:xfrm>
            <a:off x="0" y="2008080"/>
            <a:ext cx="11800440" cy="3984120"/>
          </a:xfrm>
          <a:prstGeom prst="rect">
            <a:avLst/>
          </a:prstGeom>
          <a:ln w="0">
            <a:noFill/>
          </a:ln>
        </p:spPr>
      </p:pic>
      <p:sp>
        <p:nvSpPr>
          <p:cNvPr id="223" name="TextBox 32"/>
          <p:cNvSpPr/>
          <p:nvPr/>
        </p:nvSpPr>
        <p:spPr>
          <a:xfrm>
            <a:off x="10425960" y="1590840"/>
            <a:ext cx="786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Completion Time – Arrival Time – Burst Time = Waiting Time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34"/>
          <p:cNvSpPr/>
          <p:nvPr/>
        </p:nvSpPr>
        <p:spPr>
          <a:xfrm>
            <a:off x="11908800" y="271836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6 – 0 – 6 = 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36"/>
          <p:cNvSpPr/>
          <p:nvPr/>
        </p:nvSpPr>
        <p:spPr>
          <a:xfrm>
            <a:off x="11908800" y="400032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13 – 0 – 4 = 9 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38"/>
          <p:cNvSpPr/>
          <p:nvPr/>
        </p:nvSpPr>
        <p:spPr>
          <a:xfrm>
            <a:off x="11908800" y="330552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27 – 14 – 6 = 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40"/>
          <p:cNvSpPr/>
          <p:nvPr/>
        </p:nvSpPr>
        <p:spPr>
          <a:xfrm>
            <a:off x="11908800" y="475740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9 – 3 – 3 = 3 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42"/>
          <p:cNvSpPr/>
          <p:nvPr/>
        </p:nvSpPr>
        <p:spPr>
          <a:xfrm>
            <a:off x="11908800" y="540612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21 – 2 – 8 = 11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46"/>
          <p:cNvSpPr/>
          <p:nvPr/>
        </p:nvSpPr>
        <p:spPr>
          <a:xfrm>
            <a:off x="3212640" y="7120440"/>
            <a:ext cx="11507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The sum of all wait times / number of processes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48"/>
          <p:cNvSpPr/>
          <p:nvPr/>
        </p:nvSpPr>
        <p:spPr>
          <a:xfrm>
            <a:off x="3351600" y="7954560"/>
            <a:ext cx="7151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(0 + 7 + 9 + 3 + 11)/5 =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50"/>
          <p:cNvSpPr/>
          <p:nvPr/>
        </p:nvSpPr>
        <p:spPr>
          <a:xfrm>
            <a:off x="9839160" y="7954560"/>
            <a:ext cx="17758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6.0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8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233" name="Group 3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234" name="Freeform 4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" name="TextBox 5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36" name="TextBox 6"/>
          <p:cNvSpPr/>
          <p:nvPr/>
        </p:nvSpPr>
        <p:spPr>
          <a:xfrm>
            <a:off x="8001000" y="197640"/>
            <a:ext cx="2164680" cy="12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PPRI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36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239" name="Group 3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240" name="Freeform 4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" name="TextBox 5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42" name="TextBox 6"/>
          <p:cNvSpPr/>
          <p:nvPr/>
        </p:nvSpPr>
        <p:spPr>
          <a:xfrm>
            <a:off x="8001000" y="228600"/>
            <a:ext cx="2286000" cy="12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PPRI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4" name="Group 8"/>
          <p:cNvGrpSpPr/>
          <p:nvPr/>
        </p:nvGrpSpPr>
        <p:grpSpPr>
          <a:xfrm>
            <a:off x="2887920" y="7105680"/>
            <a:ext cx="1452600" cy="1767600"/>
            <a:chOff x="2887920" y="7105680"/>
            <a:chExt cx="1452600" cy="1767600"/>
          </a:xfrm>
        </p:grpSpPr>
        <p:sp>
          <p:nvSpPr>
            <p:cNvPr id="245" name="Freeform 9"/>
            <p:cNvSpPr/>
            <p:nvPr/>
          </p:nvSpPr>
          <p:spPr>
            <a:xfrm>
              <a:off x="288792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bc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TextBox 10"/>
            <p:cNvSpPr/>
            <p:nvPr/>
          </p:nvSpPr>
          <p:spPr>
            <a:xfrm>
              <a:off x="288792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47" name="Group 11"/>
          <p:cNvGrpSpPr/>
          <p:nvPr/>
        </p:nvGrpSpPr>
        <p:grpSpPr>
          <a:xfrm>
            <a:off x="7175520" y="7105680"/>
            <a:ext cx="2042280" cy="1767600"/>
            <a:chOff x="7175520" y="7105680"/>
            <a:chExt cx="2042280" cy="1767600"/>
          </a:xfrm>
        </p:grpSpPr>
        <p:sp>
          <p:nvSpPr>
            <p:cNvPr id="248" name="Freeform 12"/>
            <p:cNvSpPr/>
            <p:nvPr/>
          </p:nvSpPr>
          <p:spPr>
            <a:xfrm>
              <a:off x="7175520" y="7250400"/>
              <a:ext cx="2042280" cy="1622880"/>
            </a:xfrm>
            <a:custGeom>
              <a:avLst/>
              <a:gdLst>
                <a:gd name="textAreaLeft" fmla="*/ 0 w 2042280"/>
                <a:gd name="textAreaRight" fmla="*/ 2042640 w 204228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538025" h="427553">
                  <a:moveTo>
                    <a:pt x="0" y="0"/>
                  </a:moveTo>
                  <a:lnTo>
                    <a:pt x="538025" y="0"/>
                  </a:lnTo>
                  <a:lnTo>
                    <a:pt x="538025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c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TextBox 13"/>
            <p:cNvSpPr/>
            <p:nvPr/>
          </p:nvSpPr>
          <p:spPr>
            <a:xfrm>
              <a:off x="7175520" y="7105680"/>
              <a:ext cx="204228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50" name="TextBox 14"/>
          <p:cNvSpPr/>
          <p:nvPr/>
        </p:nvSpPr>
        <p:spPr>
          <a:xfrm>
            <a:off x="4191120" y="8797320"/>
            <a:ext cx="299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5615280" y="8797320"/>
            <a:ext cx="3290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6"/>
          <p:cNvSpPr/>
          <p:nvPr/>
        </p:nvSpPr>
        <p:spPr>
          <a:xfrm>
            <a:off x="7041960" y="8797320"/>
            <a:ext cx="3276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9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7"/>
          <p:cNvSpPr/>
          <p:nvPr/>
        </p:nvSpPr>
        <p:spPr>
          <a:xfrm>
            <a:off x="8763120" y="8797320"/>
            <a:ext cx="5832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4" name="Group 18"/>
          <p:cNvGrpSpPr/>
          <p:nvPr/>
        </p:nvGrpSpPr>
        <p:grpSpPr>
          <a:xfrm>
            <a:off x="4341240" y="7105680"/>
            <a:ext cx="1452600" cy="1767600"/>
            <a:chOff x="4341240" y="7105680"/>
            <a:chExt cx="1452600" cy="1767600"/>
          </a:xfrm>
        </p:grpSpPr>
        <p:sp>
          <p:nvSpPr>
            <p:cNvPr id="255" name="Freeform 19"/>
            <p:cNvSpPr/>
            <p:nvPr/>
          </p:nvSpPr>
          <p:spPr>
            <a:xfrm>
              <a:off x="434124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c5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TextBox 20"/>
            <p:cNvSpPr/>
            <p:nvPr/>
          </p:nvSpPr>
          <p:spPr>
            <a:xfrm>
              <a:off x="434124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57" name="Group 21"/>
          <p:cNvGrpSpPr/>
          <p:nvPr/>
        </p:nvGrpSpPr>
        <p:grpSpPr>
          <a:xfrm>
            <a:off x="9156240" y="7105680"/>
            <a:ext cx="2901240" cy="1767600"/>
            <a:chOff x="9156240" y="7105680"/>
            <a:chExt cx="2901240" cy="1767600"/>
          </a:xfrm>
        </p:grpSpPr>
        <p:sp>
          <p:nvSpPr>
            <p:cNvPr id="258" name="Freeform 22"/>
            <p:cNvSpPr/>
            <p:nvPr/>
          </p:nvSpPr>
          <p:spPr>
            <a:xfrm>
              <a:off x="9156240" y="7250400"/>
              <a:ext cx="2901240" cy="1622880"/>
            </a:xfrm>
            <a:custGeom>
              <a:avLst/>
              <a:gdLst>
                <a:gd name="textAreaLeft" fmla="*/ 0 w 2901240"/>
                <a:gd name="textAreaRight" fmla="*/ 2901600 w 29012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120452" h="427553">
                  <a:moveTo>
                    <a:pt x="0" y="0"/>
                  </a:moveTo>
                  <a:lnTo>
                    <a:pt x="120452" y="0"/>
                  </a:lnTo>
                  <a:lnTo>
                    <a:pt x="120452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" name="TextBox 23"/>
            <p:cNvSpPr/>
            <p:nvPr/>
          </p:nvSpPr>
          <p:spPr>
            <a:xfrm>
              <a:off x="9156240" y="7105680"/>
              <a:ext cx="29012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60" name="TextBox 24"/>
          <p:cNvSpPr/>
          <p:nvPr/>
        </p:nvSpPr>
        <p:spPr>
          <a:xfrm>
            <a:off x="9426600" y="8797320"/>
            <a:ext cx="777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14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1" name="Group 25"/>
          <p:cNvGrpSpPr/>
          <p:nvPr/>
        </p:nvGrpSpPr>
        <p:grpSpPr>
          <a:xfrm>
            <a:off x="12057840" y="7105680"/>
            <a:ext cx="3341880" cy="1767600"/>
            <a:chOff x="12057840" y="7105680"/>
            <a:chExt cx="3341880" cy="1767600"/>
          </a:xfrm>
        </p:grpSpPr>
        <p:sp>
          <p:nvSpPr>
            <p:cNvPr id="262" name="Freeform 26"/>
            <p:cNvSpPr/>
            <p:nvPr/>
          </p:nvSpPr>
          <p:spPr>
            <a:xfrm>
              <a:off x="12057840" y="7250400"/>
              <a:ext cx="3341880" cy="1622880"/>
            </a:xfrm>
            <a:custGeom>
              <a:avLst/>
              <a:gdLst>
                <a:gd name="textAreaLeft" fmla="*/ 0 w 3341880"/>
                <a:gd name="textAreaRight" fmla="*/ 3342240 w 334188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880234" h="427553">
                  <a:moveTo>
                    <a:pt x="0" y="0"/>
                  </a:moveTo>
                  <a:lnTo>
                    <a:pt x="880234" y="0"/>
                  </a:lnTo>
                  <a:lnTo>
                    <a:pt x="880234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TextBox 27"/>
            <p:cNvSpPr/>
            <p:nvPr/>
          </p:nvSpPr>
          <p:spPr>
            <a:xfrm>
              <a:off x="12057840" y="7105680"/>
              <a:ext cx="334188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64" name="Group 28"/>
          <p:cNvGrpSpPr/>
          <p:nvPr/>
        </p:nvGrpSpPr>
        <p:grpSpPr>
          <a:xfrm>
            <a:off x="9613800" y="7105680"/>
            <a:ext cx="2485440" cy="1767600"/>
            <a:chOff x="9613800" y="7105680"/>
            <a:chExt cx="2485440" cy="1767600"/>
          </a:xfrm>
        </p:grpSpPr>
        <p:sp>
          <p:nvSpPr>
            <p:cNvPr id="265" name="Freeform 29"/>
            <p:cNvSpPr/>
            <p:nvPr/>
          </p:nvSpPr>
          <p:spPr>
            <a:xfrm>
              <a:off x="9613800" y="7250400"/>
              <a:ext cx="2485440" cy="1622880"/>
            </a:xfrm>
            <a:custGeom>
              <a:avLst/>
              <a:gdLst>
                <a:gd name="textAreaLeft" fmla="*/ 0 w 2485440"/>
                <a:gd name="textAreaRight" fmla="*/ 2485800 w 2485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654672" h="427553">
                  <a:moveTo>
                    <a:pt x="0" y="0"/>
                  </a:moveTo>
                  <a:lnTo>
                    <a:pt x="654672" y="0"/>
                  </a:lnTo>
                  <a:lnTo>
                    <a:pt x="654672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da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" name="TextBox 30"/>
            <p:cNvSpPr/>
            <p:nvPr/>
          </p:nvSpPr>
          <p:spPr>
            <a:xfrm>
              <a:off x="9613800" y="7105680"/>
              <a:ext cx="2485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67" name="AutoShape 31"/>
          <p:cNvSpPr/>
          <p:nvPr/>
        </p:nvSpPr>
        <p:spPr>
          <a:xfrm>
            <a:off x="3890160" y="6851160"/>
            <a:ext cx="360" cy="2352960"/>
          </a:xfrm>
          <a:prstGeom prst="line">
            <a:avLst/>
          </a:prstGeom>
          <a:ln w="38100">
            <a:solidFill>
              <a:srgbClr val="008edd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AutoShape 32"/>
          <p:cNvSpPr/>
          <p:nvPr/>
        </p:nvSpPr>
        <p:spPr>
          <a:xfrm>
            <a:off x="4340880" y="6851160"/>
            <a:ext cx="360" cy="2352960"/>
          </a:xfrm>
          <a:prstGeom prst="line">
            <a:avLst/>
          </a:prstGeom>
          <a:ln w="38100">
            <a:solidFill>
              <a:srgbClr val="2ab8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AutoShape 33"/>
          <p:cNvSpPr/>
          <p:nvPr/>
        </p:nvSpPr>
        <p:spPr>
          <a:xfrm>
            <a:off x="9613440" y="6851160"/>
            <a:ext cx="360" cy="2352960"/>
          </a:xfrm>
          <a:prstGeom prst="line">
            <a:avLst/>
          </a:prstGeom>
          <a:ln w="38100">
            <a:solidFill>
              <a:srgbClr val="b87f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0" name="Group 34"/>
          <p:cNvGrpSpPr/>
          <p:nvPr/>
        </p:nvGrpSpPr>
        <p:grpSpPr>
          <a:xfrm>
            <a:off x="5752800" y="7105680"/>
            <a:ext cx="1452600" cy="1767600"/>
            <a:chOff x="5752800" y="7105680"/>
            <a:chExt cx="1452600" cy="1767600"/>
          </a:xfrm>
        </p:grpSpPr>
        <p:sp>
          <p:nvSpPr>
            <p:cNvPr id="271" name="Freeform 35"/>
            <p:cNvSpPr/>
            <p:nvPr/>
          </p:nvSpPr>
          <p:spPr>
            <a:xfrm>
              <a:off x="575280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bc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" name="TextBox 36"/>
            <p:cNvSpPr/>
            <p:nvPr/>
          </p:nvSpPr>
          <p:spPr>
            <a:xfrm>
              <a:off x="575280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73" name="TextBox 23"/>
          <p:cNvSpPr/>
          <p:nvPr/>
        </p:nvSpPr>
        <p:spPr>
          <a:xfrm>
            <a:off x="11963520" y="8797320"/>
            <a:ext cx="7164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24"/>
          <p:cNvSpPr/>
          <p:nvPr/>
        </p:nvSpPr>
        <p:spPr>
          <a:xfrm>
            <a:off x="15129720" y="8797320"/>
            <a:ext cx="54000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8" dur="indefinite" restart="never" nodeType="tmRoot">
          <p:childTnLst>
            <p:seq>
              <p:cTn id="269" dur="indefinite" nodeType="mainSeq">
                <p:childTnLst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6"/>
          <p:cNvSpPr/>
          <p:nvPr/>
        </p:nvSpPr>
        <p:spPr>
          <a:xfrm>
            <a:off x="8121960" y="197640"/>
            <a:ext cx="2043720" cy="248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PPRI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Picture 1" descr=""/>
          <p:cNvPicPr/>
          <p:nvPr/>
        </p:nvPicPr>
        <p:blipFill>
          <a:blip r:embed="rId1"/>
          <a:stretch/>
        </p:blipFill>
        <p:spPr>
          <a:xfrm>
            <a:off x="0" y="1680840"/>
            <a:ext cx="10286640" cy="4052160"/>
          </a:xfrm>
          <a:prstGeom prst="rect">
            <a:avLst/>
          </a:prstGeom>
          <a:ln w="0">
            <a:noFill/>
          </a:ln>
        </p:spPr>
      </p:pic>
      <p:sp>
        <p:nvSpPr>
          <p:cNvPr id="277" name="TextBox 40"/>
          <p:cNvSpPr/>
          <p:nvPr/>
        </p:nvSpPr>
        <p:spPr>
          <a:xfrm>
            <a:off x="10425960" y="1590840"/>
            <a:ext cx="786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Completion Time – Arrival Time – Burst Time = Waiting Time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42"/>
          <p:cNvSpPr/>
          <p:nvPr/>
        </p:nvSpPr>
        <p:spPr>
          <a:xfrm>
            <a:off x="10518840" y="240948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9 – 0 – 6 = 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44"/>
          <p:cNvSpPr/>
          <p:nvPr/>
        </p:nvSpPr>
        <p:spPr>
          <a:xfrm>
            <a:off x="10518840" y="369144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13 – 0 – 4 = 9 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46"/>
          <p:cNvSpPr/>
          <p:nvPr/>
        </p:nvSpPr>
        <p:spPr>
          <a:xfrm>
            <a:off x="10518840" y="299664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20 – 14 – 6 = 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48"/>
          <p:cNvSpPr/>
          <p:nvPr/>
        </p:nvSpPr>
        <p:spPr>
          <a:xfrm>
            <a:off x="10518840" y="444852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6 – 3 – 3 = 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50"/>
          <p:cNvSpPr/>
          <p:nvPr/>
        </p:nvSpPr>
        <p:spPr>
          <a:xfrm>
            <a:off x="10518840" y="509724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27 – 2 – 8 = 17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52"/>
          <p:cNvSpPr/>
          <p:nvPr/>
        </p:nvSpPr>
        <p:spPr>
          <a:xfrm>
            <a:off x="3212640" y="7120440"/>
            <a:ext cx="11507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The sum of all wait times / number of processes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54"/>
          <p:cNvSpPr/>
          <p:nvPr/>
        </p:nvSpPr>
        <p:spPr>
          <a:xfrm>
            <a:off x="3351600" y="7954560"/>
            <a:ext cx="7151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(3 + 0 + 9 + 0 + 17)/5 =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56"/>
          <p:cNvSpPr/>
          <p:nvPr/>
        </p:nvSpPr>
        <p:spPr>
          <a:xfrm>
            <a:off x="9839160" y="7954560"/>
            <a:ext cx="17758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5.8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4" dur="indefinite" restart="never" nodeType="tmRoot">
          <p:childTnLst>
            <p:seq>
              <p:cTn id="325" dur="indefinite" nodeType="mainSeq">
                <p:childTnLst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Picture 7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sp>
        <p:nvSpPr>
          <p:cNvPr id="287" name="TextBox 3"/>
          <p:cNvSpPr/>
          <p:nvPr/>
        </p:nvSpPr>
        <p:spPr>
          <a:xfrm>
            <a:off x="5441040" y="197640"/>
            <a:ext cx="774144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RR (quantum = 3)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8" name="Group 4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289" name="Freeform 5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" name="TextBox 6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91" name="TextBox 7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50" descr="A colorful chart with 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080" y="720"/>
            <a:ext cx="18285480" cy="10285200"/>
          </a:xfrm>
          <a:prstGeom prst="rect">
            <a:avLst/>
          </a:prstGeom>
          <a:ln w="0">
            <a:noFill/>
          </a:ln>
        </p:spPr>
      </p:pic>
      <p:sp>
        <p:nvSpPr>
          <p:cNvPr id="293" name="TextBox 3"/>
          <p:cNvSpPr/>
          <p:nvPr/>
        </p:nvSpPr>
        <p:spPr>
          <a:xfrm>
            <a:off x="5441040" y="197640"/>
            <a:ext cx="786636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RR (quantum = 3)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4" name="Group 4"/>
          <p:cNvGrpSpPr/>
          <p:nvPr/>
        </p:nvGrpSpPr>
        <p:grpSpPr>
          <a:xfrm>
            <a:off x="2887920" y="7105680"/>
            <a:ext cx="12511440" cy="1767600"/>
            <a:chOff x="2887920" y="7105680"/>
            <a:chExt cx="12511440" cy="1767600"/>
          </a:xfrm>
        </p:grpSpPr>
        <p:sp>
          <p:nvSpPr>
            <p:cNvPr id="295" name="Freeform 5"/>
            <p:cNvSpPr/>
            <p:nvPr/>
          </p:nvSpPr>
          <p:spPr>
            <a:xfrm>
              <a:off x="2887920" y="7250400"/>
              <a:ext cx="12511440" cy="1622880"/>
            </a:xfrm>
            <a:custGeom>
              <a:avLst/>
              <a:gdLst>
                <a:gd name="textAreaLeft" fmla="*/ 0 w 12511440"/>
                <a:gd name="textAreaRight" fmla="*/ 12511800 w 125114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295310" h="427553">
                  <a:moveTo>
                    <a:pt x="0" y="0"/>
                  </a:moveTo>
                  <a:lnTo>
                    <a:pt x="3295310" y="0"/>
                  </a:lnTo>
                  <a:lnTo>
                    <a:pt x="3295310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ff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" name="TextBox 6"/>
            <p:cNvSpPr/>
            <p:nvPr/>
          </p:nvSpPr>
          <p:spPr>
            <a:xfrm>
              <a:off x="2887920" y="7105680"/>
              <a:ext cx="125114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97" name="Group 7"/>
          <p:cNvGrpSpPr/>
          <p:nvPr/>
        </p:nvGrpSpPr>
        <p:grpSpPr>
          <a:xfrm>
            <a:off x="2887920" y="7105680"/>
            <a:ext cx="1452600" cy="1767600"/>
            <a:chOff x="2887920" y="7105680"/>
            <a:chExt cx="1452600" cy="1767600"/>
          </a:xfrm>
        </p:grpSpPr>
        <p:sp>
          <p:nvSpPr>
            <p:cNvPr id="298" name="Freeform 8"/>
            <p:cNvSpPr/>
            <p:nvPr/>
          </p:nvSpPr>
          <p:spPr>
            <a:xfrm>
              <a:off x="288792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bc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" name="TextBox 9"/>
            <p:cNvSpPr/>
            <p:nvPr/>
          </p:nvSpPr>
          <p:spPr>
            <a:xfrm>
              <a:off x="288792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00" name="Group 10"/>
          <p:cNvGrpSpPr/>
          <p:nvPr/>
        </p:nvGrpSpPr>
        <p:grpSpPr>
          <a:xfrm>
            <a:off x="4309920" y="7105680"/>
            <a:ext cx="1484280" cy="1767600"/>
            <a:chOff x="4309920" y="7105680"/>
            <a:chExt cx="1484280" cy="1767600"/>
          </a:xfrm>
        </p:grpSpPr>
        <p:sp>
          <p:nvSpPr>
            <p:cNvPr id="301" name="Freeform 11"/>
            <p:cNvSpPr/>
            <p:nvPr/>
          </p:nvSpPr>
          <p:spPr>
            <a:xfrm>
              <a:off x="4309920" y="7250400"/>
              <a:ext cx="1484280" cy="1622880"/>
            </a:xfrm>
            <a:custGeom>
              <a:avLst/>
              <a:gdLst>
                <a:gd name="textAreaLeft" fmla="*/ 0 w 1484280"/>
                <a:gd name="textAreaRight" fmla="*/ 1484640 w 148428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90977" h="427553">
                  <a:moveTo>
                    <a:pt x="0" y="0"/>
                  </a:moveTo>
                  <a:lnTo>
                    <a:pt x="390977" y="0"/>
                  </a:lnTo>
                  <a:lnTo>
                    <a:pt x="390977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c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" name="TextBox 12"/>
            <p:cNvSpPr/>
            <p:nvPr/>
          </p:nvSpPr>
          <p:spPr>
            <a:xfrm>
              <a:off x="4309920" y="7105680"/>
              <a:ext cx="148428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03" name="Group 13"/>
          <p:cNvGrpSpPr/>
          <p:nvPr/>
        </p:nvGrpSpPr>
        <p:grpSpPr>
          <a:xfrm>
            <a:off x="5752800" y="7105680"/>
            <a:ext cx="1452600" cy="1767600"/>
            <a:chOff x="5752800" y="7105680"/>
            <a:chExt cx="1452600" cy="1767600"/>
          </a:xfrm>
        </p:grpSpPr>
        <p:sp>
          <p:nvSpPr>
            <p:cNvPr id="304" name="Freeform 14"/>
            <p:cNvSpPr/>
            <p:nvPr/>
          </p:nvSpPr>
          <p:spPr>
            <a:xfrm>
              <a:off x="575280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" name="TextBox 15"/>
            <p:cNvSpPr/>
            <p:nvPr/>
          </p:nvSpPr>
          <p:spPr>
            <a:xfrm>
              <a:off x="575280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6" name="TextBox 16"/>
          <p:cNvSpPr/>
          <p:nvPr/>
        </p:nvSpPr>
        <p:spPr>
          <a:xfrm>
            <a:off x="2710800" y="8797320"/>
            <a:ext cx="3542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17"/>
          <p:cNvSpPr/>
          <p:nvPr/>
        </p:nvSpPr>
        <p:spPr>
          <a:xfrm>
            <a:off x="4191120" y="8797320"/>
            <a:ext cx="299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18"/>
          <p:cNvSpPr/>
          <p:nvPr/>
        </p:nvSpPr>
        <p:spPr>
          <a:xfrm>
            <a:off x="5615280" y="8797320"/>
            <a:ext cx="3290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19"/>
          <p:cNvSpPr/>
          <p:nvPr/>
        </p:nvSpPr>
        <p:spPr>
          <a:xfrm>
            <a:off x="7041960" y="8797320"/>
            <a:ext cx="3276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9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0" name="Group 20"/>
          <p:cNvGrpSpPr/>
          <p:nvPr/>
        </p:nvGrpSpPr>
        <p:grpSpPr>
          <a:xfrm>
            <a:off x="7169040" y="7105680"/>
            <a:ext cx="1452600" cy="1767600"/>
            <a:chOff x="7169040" y="7105680"/>
            <a:chExt cx="1452600" cy="1767600"/>
          </a:xfrm>
        </p:grpSpPr>
        <p:sp>
          <p:nvSpPr>
            <p:cNvPr id="311" name="Freeform 21"/>
            <p:cNvSpPr/>
            <p:nvPr/>
          </p:nvSpPr>
          <p:spPr>
            <a:xfrm>
              <a:off x="716904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c5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" name="TextBox 22"/>
            <p:cNvSpPr/>
            <p:nvPr/>
          </p:nvSpPr>
          <p:spPr>
            <a:xfrm>
              <a:off x="716904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13" name="TextBox 23"/>
          <p:cNvSpPr/>
          <p:nvPr/>
        </p:nvSpPr>
        <p:spPr>
          <a:xfrm>
            <a:off x="8346600" y="8797320"/>
            <a:ext cx="57276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4" name="Group 24"/>
          <p:cNvGrpSpPr/>
          <p:nvPr/>
        </p:nvGrpSpPr>
        <p:grpSpPr>
          <a:xfrm>
            <a:off x="8584920" y="7105680"/>
            <a:ext cx="1452600" cy="1767600"/>
            <a:chOff x="8584920" y="7105680"/>
            <a:chExt cx="1452600" cy="1767600"/>
          </a:xfrm>
        </p:grpSpPr>
        <p:sp>
          <p:nvSpPr>
            <p:cNvPr id="315" name="Freeform 25"/>
            <p:cNvSpPr/>
            <p:nvPr/>
          </p:nvSpPr>
          <p:spPr>
            <a:xfrm>
              <a:off x="858492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bc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" name="TextBox 26"/>
            <p:cNvSpPr/>
            <p:nvPr/>
          </p:nvSpPr>
          <p:spPr>
            <a:xfrm>
              <a:off x="858492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17" name="Group 27"/>
          <p:cNvGrpSpPr/>
          <p:nvPr/>
        </p:nvGrpSpPr>
        <p:grpSpPr>
          <a:xfrm>
            <a:off x="9992880" y="7105680"/>
            <a:ext cx="498240" cy="1767600"/>
            <a:chOff x="9992880" y="7105680"/>
            <a:chExt cx="498240" cy="1767600"/>
          </a:xfrm>
        </p:grpSpPr>
        <p:sp>
          <p:nvSpPr>
            <p:cNvPr id="318" name="Freeform 28"/>
            <p:cNvSpPr/>
            <p:nvPr/>
          </p:nvSpPr>
          <p:spPr>
            <a:xfrm>
              <a:off x="9992880" y="7250400"/>
              <a:ext cx="498240" cy="1622880"/>
            </a:xfrm>
            <a:custGeom>
              <a:avLst/>
              <a:gdLst>
                <a:gd name="textAreaLeft" fmla="*/ 0 w 498240"/>
                <a:gd name="textAreaRight" fmla="*/ 498600 w 49824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131301" h="427553">
                  <a:moveTo>
                    <a:pt x="0" y="0"/>
                  </a:moveTo>
                  <a:lnTo>
                    <a:pt x="131301" y="0"/>
                  </a:lnTo>
                  <a:lnTo>
                    <a:pt x="131301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cff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" name="TextBox 29"/>
            <p:cNvSpPr/>
            <p:nvPr/>
          </p:nvSpPr>
          <p:spPr>
            <a:xfrm>
              <a:off x="9992880" y="7105680"/>
              <a:ext cx="49824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20" name="Group 30"/>
          <p:cNvGrpSpPr/>
          <p:nvPr/>
        </p:nvGrpSpPr>
        <p:grpSpPr>
          <a:xfrm>
            <a:off x="10447920" y="7105680"/>
            <a:ext cx="1452600" cy="1767600"/>
            <a:chOff x="10447920" y="7105680"/>
            <a:chExt cx="1452600" cy="1767600"/>
          </a:xfrm>
        </p:grpSpPr>
        <p:sp>
          <p:nvSpPr>
            <p:cNvPr id="321" name="Freeform 31"/>
            <p:cNvSpPr/>
            <p:nvPr/>
          </p:nvSpPr>
          <p:spPr>
            <a:xfrm>
              <a:off x="1044792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" name="TextBox 32"/>
            <p:cNvSpPr/>
            <p:nvPr/>
          </p:nvSpPr>
          <p:spPr>
            <a:xfrm>
              <a:off x="1044792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23" name="Group 33"/>
          <p:cNvGrpSpPr/>
          <p:nvPr/>
        </p:nvGrpSpPr>
        <p:grpSpPr>
          <a:xfrm>
            <a:off x="11862720" y="7105680"/>
            <a:ext cx="1452600" cy="1767600"/>
            <a:chOff x="11862720" y="7105680"/>
            <a:chExt cx="1452600" cy="1767600"/>
          </a:xfrm>
        </p:grpSpPr>
        <p:sp>
          <p:nvSpPr>
            <p:cNvPr id="324" name="Freeform 34"/>
            <p:cNvSpPr/>
            <p:nvPr/>
          </p:nvSpPr>
          <p:spPr>
            <a:xfrm>
              <a:off x="1186272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da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" name="TextBox 35"/>
            <p:cNvSpPr/>
            <p:nvPr/>
          </p:nvSpPr>
          <p:spPr>
            <a:xfrm>
              <a:off x="1186272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26" name="Group 36"/>
          <p:cNvGrpSpPr/>
          <p:nvPr/>
        </p:nvGrpSpPr>
        <p:grpSpPr>
          <a:xfrm>
            <a:off x="13272480" y="7105680"/>
            <a:ext cx="736560" cy="1767600"/>
            <a:chOff x="13272480" y="7105680"/>
            <a:chExt cx="736560" cy="1767600"/>
          </a:xfrm>
        </p:grpSpPr>
        <p:sp>
          <p:nvSpPr>
            <p:cNvPr id="327" name="Freeform 37"/>
            <p:cNvSpPr/>
            <p:nvPr/>
          </p:nvSpPr>
          <p:spPr>
            <a:xfrm>
              <a:off x="13272480" y="7250400"/>
              <a:ext cx="736560" cy="1622880"/>
            </a:xfrm>
            <a:custGeom>
              <a:avLst/>
              <a:gdLst>
                <a:gd name="textAreaLeft" fmla="*/ 0 w 736560"/>
                <a:gd name="textAreaRight" fmla="*/ 736920 w 73656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194128" h="427553">
                  <a:moveTo>
                    <a:pt x="0" y="0"/>
                  </a:moveTo>
                  <a:lnTo>
                    <a:pt x="194128" y="0"/>
                  </a:lnTo>
                  <a:lnTo>
                    <a:pt x="19412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bce7ff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TextBox 38"/>
            <p:cNvSpPr/>
            <p:nvPr/>
          </p:nvSpPr>
          <p:spPr>
            <a:xfrm>
              <a:off x="13272480" y="7105680"/>
              <a:ext cx="73656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29" name="Group 39"/>
          <p:cNvGrpSpPr/>
          <p:nvPr/>
        </p:nvGrpSpPr>
        <p:grpSpPr>
          <a:xfrm>
            <a:off x="13946760" y="7105680"/>
            <a:ext cx="1452600" cy="1767600"/>
            <a:chOff x="13946760" y="7105680"/>
            <a:chExt cx="1452600" cy="1767600"/>
          </a:xfrm>
        </p:grpSpPr>
        <p:sp>
          <p:nvSpPr>
            <p:cNvPr id="330" name="Freeform 40"/>
            <p:cNvSpPr/>
            <p:nvPr/>
          </p:nvSpPr>
          <p:spPr>
            <a:xfrm>
              <a:off x="13946760" y="7250400"/>
              <a:ext cx="1452600" cy="1622880"/>
            </a:xfrm>
            <a:custGeom>
              <a:avLst/>
              <a:gdLst>
                <a:gd name="textAreaLeft" fmla="*/ 0 w 1452600"/>
                <a:gd name="textAreaRight" fmla="*/ 1452960 w 1452600"/>
                <a:gd name="textAreaTop" fmla="*/ 0 h 1622880"/>
                <a:gd name="textAreaBottom" fmla="*/ 1623240 h 1622880"/>
              </a:gdLst>
              <a:ahLst/>
              <a:rect l="textAreaLeft" t="textAreaTop" r="textAreaRight" b="textAreaBottom"/>
              <a:pathLst>
                <a:path w="382708" h="427553">
                  <a:moveTo>
                    <a:pt x="0" y="0"/>
                  </a:moveTo>
                  <a:lnTo>
                    <a:pt x="382708" y="0"/>
                  </a:lnTo>
                  <a:lnTo>
                    <a:pt x="382708" y="427553"/>
                  </a:lnTo>
                  <a:lnTo>
                    <a:pt x="0" y="427553"/>
                  </a:lnTo>
                  <a:close/>
                </a:path>
              </a:pathLst>
            </a:custGeom>
            <a:solidFill>
              <a:srgbClr val="ffdabc"/>
            </a:solidFill>
            <a:ln cap="sq"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TextBox 41"/>
            <p:cNvSpPr/>
            <p:nvPr/>
          </p:nvSpPr>
          <p:spPr>
            <a:xfrm>
              <a:off x="13946760" y="7105680"/>
              <a:ext cx="1452600" cy="176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32" name="TextBox 42"/>
          <p:cNvSpPr/>
          <p:nvPr/>
        </p:nvSpPr>
        <p:spPr>
          <a:xfrm>
            <a:off x="9464760" y="8797320"/>
            <a:ext cx="57276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15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43"/>
          <p:cNvSpPr/>
          <p:nvPr/>
        </p:nvSpPr>
        <p:spPr>
          <a:xfrm>
            <a:off x="10364400" y="8797320"/>
            <a:ext cx="6202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44"/>
          <p:cNvSpPr/>
          <p:nvPr/>
        </p:nvSpPr>
        <p:spPr>
          <a:xfrm>
            <a:off x="11609280" y="8797320"/>
            <a:ext cx="6202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19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45"/>
          <p:cNvSpPr/>
          <p:nvPr/>
        </p:nvSpPr>
        <p:spPr>
          <a:xfrm>
            <a:off x="12942000" y="8797320"/>
            <a:ext cx="56556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46"/>
          <p:cNvSpPr/>
          <p:nvPr/>
        </p:nvSpPr>
        <p:spPr>
          <a:xfrm>
            <a:off x="13724280" y="8797320"/>
            <a:ext cx="6728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24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47"/>
          <p:cNvSpPr/>
          <p:nvPr/>
        </p:nvSpPr>
        <p:spPr>
          <a:xfrm>
            <a:off x="15129720" y="8797320"/>
            <a:ext cx="54000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27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AutoShape 48"/>
          <p:cNvSpPr/>
          <p:nvPr/>
        </p:nvSpPr>
        <p:spPr>
          <a:xfrm>
            <a:off x="3890160" y="6851160"/>
            <a:ext cx="360" cy="2352960"/>
          </a:xfrm>
          <a:prstGeom prst="line">
            <a:avLst/>
          </a:prstGeom>
          <a:ln w="38100">
            <a:solidFill>
              <a:srgbClr val="008edd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AutoShape 49"/>
          <p:cNvSpPr/>
          <p:nvPr/>
        </p:nvSpPr>
        <p:spPr>
          <a:xfrm>
            <a:off x="4340880" y="6851160"/>
            <a:ext cx="360" cy="2352960"/>
          </a:xfrm>
          <a:prstGeom prst="line">
            <a:avLst/>
          </a:prstGeom>
          <a:ln w="38100">
            <a:solidFill>
              <a:srgbClr val="2ab8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AutoShape 50"/>
          <p:cNvSpPr/>
          <p:nvPr/>
        </p:nvSpPr>
        <p:spPr>
          <a:xfrm>
            <a:off x="9613440" y="6851160"/>
            <a:ext cx="360" cy="2352960"/>
          </a:xfrm>
          <a:prstGeom prst="line">
            <a:avLst/>
          </a:prstGeom>
          <a:ln w="38100">
            <a:solidFill>
              <a:srgbClr val="b87f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9" dur="indefinite" restart="never" nodeType="tmRoot">
          <p:childTnLst>
            <p:seq>
              <p:cTn id="360" dur="indefinite" nodeType="mainSeq">
                <p:childTnLst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3"/>
          <p:cNvSpPr/>
          <p:nvPr/>
        </p:nvSpPr>
        <p:spPr>
          <a:xfrm>
            <a:off x="5441040" y="197640"/>
            <a:ext cx="786636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1" lang="en-US" sz="70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RR (quantum = 3)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Picture 1" descr=""/>
          <p:cNvPicPr/>
          <p:nvPr/>
        </p:nvPicPr>
        <p:blipFill>
          <a:blip r:embed="rId1"/>
          <a:stretch/>
        </p:blipFill>
        <p:spPr>
          <a:xfrm>
            <a:off x="599040" y="1996920"/>
            <a:ext cx="9690840" cy="4887360"/>
          </a:xfrm>
          <a:prstGeom prst="rect">
            <a:avLst/>
          </a:prstGeom>
          <a:ln w="0">
            <a:noFill/>
          </a:ln>
        </p:spPr>
      </p:pic>
      <p:sp>
        <p:nvSpPr>
          <p:cNvPr id="343" name="TextBox 52"/>
          <p:cNvSpPr/>
          <p:nvPr/>
        </p:nvSpPr>
        <p:spPr>
          <a:xfrm>
            <a:off x="10287000" y="1899720"/>
            <a:ext cx="786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Completion Time – Arrival Time – Burst Time = Waiting Time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54"/>
          <p:cNvSpPr/>
          <p:nvPr/>
        </p:nvSpPr>
        <p:spPr>
          <a:xfrm>
            <a:off x="10395000" y="287280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15 – 0 – 6 = 9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56"/>
          <p:cNvSpPr/>
          <p:nvPr/>
        </p:nvSpPr>
        <p:spPr>
          <a:xfrm>
            <a:off x="10395000" y="444852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16 – 0 – 4 = 12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58"/>
          <p:cNvSpPr/>
          <p:nvPr/>
        </p:nvSpPr>
        <p:spPr>
          <a:xfrm>
            <a:off x="10395000" y="367596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27 – 14 – 6 = 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60"/>
          <p:cNvSpPr/>
          <p:nvPr/>
        </p:nvSpPr>
        <p:spPr>
          <a:xfrm>
            <a:off x="10395000" y="518976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12– 3 – 3 = 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62"/>
          <p:cNvSpPr/>
          <p:nvPr/>
        </p:nvSpPr>
        <p:spPr>
          <a:xfrm>
            <a:off x="10395000" y="6085800"/>
            <a:ext cx="415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24 – 2 – 8 = 14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64"/>
          <p:cNvSpPr/>
          <p:nvPr/>
        </p:nvSpPr>
        <p:spPr>
          <a:xfrm>
            <a:off x="2780280" y="7506720"/>
            <a:ext cx="11507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The sum of all wait times / number of processes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66"/>
          <p:cNvSpPr/>
          <p:nvPr/>
        </p:nvSpPr>
        <p:spPr>
          <a:xfrm>
            <a:off x="2919240" y="8340840"/>
            <a:ext cx="7151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Average Wait Time = (9 + 7 + 12 + 6 + 14)/5 =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68"/>
          <p:cNvSpPr/>
          <p:nvPr/>
        </p:nvSpPr>
        <p:spPr>
          <a:xfrm>
            <a:off x="9406440" y="8340840"/>
            <a:ext cx="17758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9.6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3" dur="indefinite" restart="never" nodeType="tmRoot">
          <p:childTnLst>
            <p:seq>
              <p:cTn id="434" dur="indefinite" nodeType="mainSeq">
                <p:childTnLst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5AF4FEC0F054FAF5BF5FE5C6A1975" ma:contentTypeVersion="3" ma:contentTypeDescription="Create a new document." ma:contentTypeScope="" ma:versionID="147348fbaffbffbfb571349ab704a6c0">
  <xsd:schema xmlns:xsd="http://www.w3.org/2001/XMLSchema" xmlns:xs="http://www.w3.org/2001/XMLSchema" xmlns:p="http://schemas.microsoft.com/office/2006/metadata/properties" xmlns:ns2="2fba450f-cc51-467e-a2f8-1f0dff67b279" targetNamespace="http://schemas.microsoft.com/office/2006/metadata/properties" ma:root="true" ma:fieldsID="01a6d95f848543f3a87902f6f39d44cf" ns2:_="">
    <xsd:import namespace="2fba450f-cc51-467e-a2f8-1f0dff67b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ba450f-cc51-467e-a2f8-1f0dff67b2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B90D79-907B-4AF4-BE3F-AAF0444BA798}">
  <ds:schemaRefs>
    <ds:schemaRef ds:uri="2fba450f-cc51-467e-a2f8-1f0dff67b27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90F54EA-3E48-460D-9B0B-DC0B9A8D3E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35693D-500C-413A-A7CF-20C392FB124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DAHZExEbI1g</dc:identifier>
  <dc:language>en-US</dc:language>
  <cp:lastModifiedBy/>
  <dcterms:modified xsi:type="dcterms:W3CDTF">2026-10-26T11:27:45Z</dcterms:modified>
  <cp:revision>253</cp:revision>
  <dc:subject/>
  <dc:title>Add a heading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0x01010032C5AF4FEC0F054FAF5BF5FE5C6A1975</vt:lpwstr>
  </property>
  <property fmtid="{D5CDD505-2E9C-101B-9397-08002B2CF9AE}" pid="3" name="PresentationFormat">
    <vt:lpwstr>Custom</vt:lpwstr>
  </property>
  <property fmtid="{D5CDD505-2E9C-101B-9397-08002B2CF9AE}" pid="4" name="Slides">
    <vt:i4>24</vt:i4>
  </property>
</Properties>
</file>